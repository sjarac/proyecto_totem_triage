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  <p:sldMasterId id="2147483672" r:id="rId3"/>
  </p:sldMasterIdLst>
  <p:notesMasterIdLst>
    <p:notesMasterId r:id="rId3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12192000" cy="6858000"/>
  <p:notesSz cx="6858000" cy="9144000"/>
  <p:embeddedFontLst>
    <p:embeddedFont>
      <p:font typeface="Century Gothic" panose="020B0502020202020204" pitchFamily="34" charset="0"/>
      <p:regular r:id="rId37"/>
      <p:bold r:id="rId38"/>
      <p:italic r:id="rId39"/>
      <p:boldItalic r:id="rId40"/>
    </p:embeddedFont>
    <p:embeddedFont>
      <p:font typeface="Economica" panose="020B0604020202020204" charset="0"/>
      <p:regular r:id="rId41"/>
      <p:bold r:id="rId42"/>
      <p:italic r:id="rId43"/>
      <p:boldItalic r:id="rId44"/>
    </p:embeddedFont>
    <p:embeddedFont>
      <p:font typeface="Open Sans" panose="020B0606030504020204" pitchFamily="34" charset="0"/>
      <p:regular r:id="rId45"/>
      <p:bold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WvjnKcBD88fzBwwh3cIxC7UmY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8940ED5-32B1-469B-8B4F-D22008600FFA}">
  <a:tblStyle styleId="{28940ED5-32B1-469B-8B4F-D22008600FF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C80C63A-C8C8-4543-9341-8D23CDD0A918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3.fntdata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font" Target="fonts/font6.fntdata"/><Relationship Id="rId55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8.fntdata"/><Relationship Id="rId52" Type="http://customschemas.google.com/relationships/presentationmetadata" Target="meta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font" Target="fonts/font7.fntdata"/><Relationship Id="rId56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7.xml"/><Relationship Id="rId41" Type="http://schemas.openxmlformats.org/officeDocument/2006/relationships/font" Target="fonts/font5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6" name="Google Shape;1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9" name="Google Shape;1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9" name="Google Shape;1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9" name="Google Shape;20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hfdfb8fb64a5011c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hfdfb8fb64a5011c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hfdfb8fb64a5011c_1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hfdfb8fb64a5011c_1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hfdfb8fb64a5011c_1_1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hfdfb8fb64a5011c_1_1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hfdfb8fb64a5011c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hfdfb8fb64a5011c_1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hfdfb8fb64a5011c_1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hfdfb8fb64a5011c_1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hfdfb8fb64a5011c_1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hfdfb8fb64a5011c_1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hfdfb8fb64a5011c_1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hfdfb8fb64a5011c_1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hfdfb8fb64a5011c_1_4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hfdfb8fb64a5011c_1_4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hfdfb8fb64a5011c_1_1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hfdfb8fb64a5011c_1_1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hfdfb8fb64a5011c_1_1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" name="Google Shape;286;hfdfb8fb64a5011c_1_1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hfdfb8fb64a5011c_1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hfdfb8fb64a5011c_1_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hfdfb8fb64a5011c_2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hfdfb8fb64a5011c_2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hfdfb8fb64a5011c_2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hfdfb8fb64a5011c_2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hfdfb8fb64a5011c_1_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hfdfb8fb64a5011c_1_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hfdfb8fb64a5011c_1_1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hfdfb8fb64a5011c_1_1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hfdfb8fb64a5011c_1_6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hfdfb8fb64a5011c_1_6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hfdfb8fb64a5011c_1_7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hfdfb8fb64a5011c_1_7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hfdfb8fb64a5011c_1_8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hfdfb8fb64a5011c_1_8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hfdfb8fb64a5011c_1_8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2" name="Google Shape;352;hfdfb8fb64a5011c_1_8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hfdfb8fb64a5011c_1_9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hfdfb8fb64a5011c_1_9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hfdfb8fb64a5011c_1_1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hfdfb8fb64a5011c_1_1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hfdfb8fb64a5011c_2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hfdfb8fb64a5011c_2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hfdfb8fb64a5011c_1_1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hfdfb8fb64a5011c_1_1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hfdfb8fb64a5011c_1_1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hfdfb8fb64a5011c_1_1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hfdfb8fb64a5011c_1_1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hfdfb8fb64a5011c_1_1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hfdfb8fb64a5011c_1_10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hfdfb8fb64a5011c_1_10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fa4cc17cc6_1_6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8" name="Google Shape;408;g3fa4cc17cc6_1_6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a4cc17cc6_1_643"/>
          <p:cNvSpPr/>
          <p:nvPr/>
        </p:nvSpPr>
        <p:spPr>
          <a:xfrm>
            <a:off x="3658683" y="1008933"/>
            <a:ext cx="1442131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1" name="Google Shape;11;g3fa4cc17cc6_1_643"/>
          <p:cNvSpPr/>
          <p:nvPr/>
        </p:nvSpPr>
        <p:spPr>
          <a:xfrm rot="10800000">
            <a:off x="7091169" y="4355671"/>
            <a:ext cx="1442131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2" name="Google Shape;12;g3fa4cc17cc6_1_643"/>
          <p:cNvSpPr txBox="1">
            <a:spLocks noGrp="1"/>
          </p:cNvSpPr>
          <p:nvPr>
            <p:ph type="ctrTitle"/>
          </p:nvPr>
        </p:nvSpPr>
        <p:spPr>
          <a:xfrm>
            <a:off x="4059600" y="1925674"/>
            <a:ext cx="40728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g3fa4cc17cc6_1_643"/>
          <p:cNvSpPr txBox="1">
            <a:spLocks noGrp="1"/>
          </p:cNvSpPr>
          <p:nvPr>
            <p:ph type="subTitle" idx="1"/>
          </p:nvPr>
        </p:nvSpPr>
        <p:spPr>
          <a:xfrm>
            <a:off x="4059600" y="4155440"/>
            <a:ext cx="4072800" cy="9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g3fa4cc17cc6_1_64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a4cc17cc6_1_649"/>
          <p:cNvSpPr/>
          <p:nvPr/>
        </p:nvSpPr>
        <p:spPr>
          <a:xfrm flipH="1">
            <a:off x="10127953" y="613633"/>
            <a:ext cx="1442131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17" name="Google Shape;17;g3fa4cc17cc6_1_649"/>
          <p:cNvSpPr/>
          <p:nvPr/>
        </p:nvSpPr>
        <p:spPr>
          <a:xfrm rot="10800000" flipH="1">
            <a:off x="621900" y="4744471"/>
            <a:ext cx="1442131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18" name="Google Shape;18;g3fa4cc17cc6_1_649"/>
          <p:cNvSpPr txBox="1">
            <a:spLocks noGrp="1"/>
          </p:cNvSpPr>
          <p:nvPr>
            <p:ph type="title"/>
          </p:nvPr>
        </p:nvSpPr>
        <p:spPr>
          <a:xfrm>
            <a:off x="1031600" y="2408600"/>
            <a:ext cx="10128900" cy="20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3fa4cc17cc6_1_64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a4cc17cc6_1_654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g3fa4cc17cc6_1_654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3fa4cc17cc6_1_654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113607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g3fa4cc17cc6_1_65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fa4cc17cc6_1_659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3fa4cc17cc6_1_659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53331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3fa4cc17cc6_1_659"/>
          <p:cNvSpPr txBox="1">
            <a:spLocks noGrp="1"/>
          </p:cNvSpPr>
          <p:nvPr>
            <p:ph type="body" idx="2"/>
          </p:nvPr>
        </p:nvSpPr>
        <p:spPr>
          <a:xfrm>
            <a:off x="6443200" y="1633633"/>
            <a:ext cx="53331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g3fa4cc17cc6_1_65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fa4cc17cc6_1_664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g3fa4cc17cc6_1_66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fa4cc17cc6_1_66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5" name="Google Shape;35;g3fa4cc17cc6_1_667"/>
          <p:cNvSpPr txBox="1">
            <a:spLocks noGrp="1"/>
          </p:cNvSpPr>
          <p:nvPr>
            <p:ph type="body" idx="1"/>
          </p:nvPr>
        </p:nvSpPr>
        <p:spPr>
          <a:xfrm>
            <a:off x="415600" y="1865867"/>
            <a:ext cx="3744000" cy="3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6" name="Google Shape;36;g3fa4cc17cc6_1_66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fa4cc17cc6_1_671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3fa4cc17cc6_1_671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78384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40" name="Google Shape;40;g3fa4cc17cc6_1_67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fa4cc17cc6_1_675"/>
          <p:cNvSpPr/>
          <p:nvPr/>
        </p:nvSpPr>
        <p:spPr>
          <a:xfrm>
            <a:off x="6096000" y="-33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g3fa4cc17cc6_1_675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g3fa4cc17cc6_1_675"/>
          <p:cNvSpPr txBox="1">
            <a:spLocks noGrp="1"/>
          </p:cNvSpPr>
          <p:nvPr>
            <p:ph type="title"/>
          </p:nvPr>
        </p:nvSpPr>
        <p:spPr>
          <a:xfrm>
            <a:off x="354000" y="1239033"/>
            <a:ext cx="5393700" cy="23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g3fa4cc17cc6_1_675"/>
          <p:cNvSpPr txBox="1">
            <a:spLocks noGrp="1"/>
          </p:cNvSpPr>
          <p:nvPr>
            <p:ph type="subTitle" idx="1"/>
          </p:nvPr>
        </p:nvSpPr>
        <p:spPr>
          <a:xfrm>
            <a:off x="354000" y="3692001"/>
            <a:ext cx="5393700" cy="20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g3fa4cc17cc6_1_675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g3fa4cc17cc6_1_67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fa4cc17cc6_1_682"/>
          <p:cNvSpPr txBox="1">
            <a:spLocks noGrp="1"/>
          </p:cNvSpPr>
          <p:nvPr>
            <p:ph type="body" idx="1"/>
          </p:nvPr>
        </p:nvSpPr>
        <p:spPr>
          <a:xfrm>
            <a:off x="426000" y="5625233"/>
            <a:ext cx="7998300" cy="7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g3fa4cc17cc6_1_68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a4cc17cc6_1_685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g3fa4cc17cc6_1_685"/>
          <p:cNvSpPr txBox="1">
            <a:spLocks noGrp="1"/>
          </p:cNvSpPr>
          <p:nvPr>
            <p:ph type="title" hasCustomPrompt="1"/>
          </p:nvPr>
        </p:nvSpPr>
        <p:spPr>
          <a:xfrm>
            <a:off x="415600" y="1276167"/>
            <a:ext cx="11360700" cy="28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g3fa4cc17cc6_1_685"/>
          <p:cNvSpPr txBox="1">
            <a:spLocks noGrp="1"/>
          </p:cNvSpPr>
          <p:nvPr>
            <p:ph type="body" idx="1"/>
          </p:nvPr>
        </p:nvSpPr>
        <p:spPr>
          <a:xfrm>
            <a:off x="415600" y="4216000"/>
            <a:ext cx="113607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g3fa4cc17cc6_1_68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a4cc17cc6_1_69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fdfb8fb64a5011c_1_200"/>
          <p:cNvSpPr/>
          <p:nvPr/>
        </p:nvSpPr>
        <p:spPr>
          <a:xfrm>
            <a:off x="3658683" y="1008933"/>
            <a:ext cx="1442131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64" name="Google Shape;64;hfdfb8fb64a5011c_1_200"/>
          <p:cNvSpPr/>
          <p:nvPr/>
        </p:nvSpPr>
        <p:spPr>
          <a:xfrm rot="10800000">
            <a:off x="7091169" y="4355671"/>
            <a:ext cx="1442131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65" name="Google Shape;65;hfdfb8fb64a5011c_1_200"/>
          <p:cNvSpPr txBox="1">
            <a:spLocks noGrp="1"/>
          </p:cNvSpPr>
          <p:nvPr>
            <p:ph type="ctrTitle"/>
          </p:nvPr>
        </p:nvSpPr>
        <p:spPr>
          <a:xfrm>
            <a:off x="4059600" y="1925674"/>
            <a:ext cx="40728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hfdfb8fb64a5011c_1_200"/>
          <p:cNvSpPr txBox="1">
            <a:spLocks noGrp="1"/>
          </p:cNvSpPr>
          <p:nvPr>
            <p:ph type="subTitle" idx="1"/>
          </p:nvPr>
        </p:nvSpPr>
        <p:spPr>
          <a:xfrm>
            <a:off x="4059600" y="4155440"/>
            <a:ext cx="4072800" cy="9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67" name="Google Shape;67;hfdfb8fb64a5011c_1_20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fdfb8fb64a5011c_1_206"/>
          <p:cNvSpPr/>
          <p:nvPr/>
        </p:nvSpPr>
        <p:spPr>
          <a:xfrm flipH="1">
            <a:off x="10127953" y="613633"/>
            <a:ext cx="1442131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70" name="Google Shape;70;hfdfb8fb64a5011c_1_206"/>
          <p:cNvSpPr/>
          <p:nvPr/>
        </p:nvSpPr>
        <p:spPr>
          <a:xfrm rot="10800000" flipH="1">
            <a:off x="621900" y="4744471"/>
            <a:ext cx="1442131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71" name="Google Shape;71;hfdfb8fb64a5011c_1_206"/>
          <p:cNvSpPr txBox="1">
            <a:spLocks noGrp="1"/>
          </p:cNvSpPr>
          <p:nvPr>
            <p:ph type="title"/>
          </p:nvPr>
        </p:nvSpPr>
        <p:spPr>
          <a:xfrm>
            <a:off x="1031600" y="2408600"/>
            <a:ext cx="10128900" cy="20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hfdfb8fb64a5011c_1_20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fdfb8fb64a5011c_1_211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hfdfb8fb64a5011c_1_211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hfdfb8fb64a5011c_1_211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113607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77" name="Google Shape;77;hfdfb8fb64a5011c_1_2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fdfb8fb64a5011c_1_216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hfdfb8fb64a5011c_1_216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53331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81" name="Google Shape;81;hfdfb8fb64a5011c_1_216"/>
          <p:cNvSpPr txBox="1">
            <a:spLocks noGrp="1"/>
          </p:cNvSpPr>
          <p:nvPr>
            <p:ph type="body" idx="2"/>
          </p:nvPr>
        </p:nvSpPr>
        <p:spPr>
          <a:xfrm>
            <a:off x="6443200" y="1633633"/>
            <a:ext cx="53331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82" name="Google Shape;82;hfdfb8fb64a5011c_1_2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fdfb8fb64a5011c_1_221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hfdfb8fb64a5011c_1_22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fdfb8fb64a5011c_1_224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88" name="Google Shape;88;hfdfb8fb64a5011c_1_224"/>
          <p:cNvSpPr txBox="1">
            <a:spLocks noGrp="1"/>
          </p:cNvSpPr>
          <p:nvPr>
            <p:ph type="body" idx="1"/>
          </p:nvPr>
        </p:nvSpPr>
        <p:spPr>
          <a:xfrm>
            <a:off x="415600" y="1865867"/>
            <a:ext cx="3744000" cy="3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89" name="Google Shape;89;hfdfb8fb64a5011c_1_22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fdfb8fb64a5011c_1_228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hfdfb8fb64a5011c_1_22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78384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93" name="Google Shape;93;hfdfb8fb64a5011c_1_22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fdfb8fb64a5011c_1_232"/>
          <p:cNvSpPr/>
          <p:nvPr/>
        </p:nvSpPr>
        <p:spPr>
          <a:xfrm>
            <a:off x="6096000" y="-33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" name="Google Shape;96;hfdfb8fb64a5011c_1_232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7" name="Google Shape;97;hfdfb8fb64a5011c_1_232"/>
          <p:cNvSpPr txBox="1">
            <a:spLocks noGrp="1"/>
          </p:cNvSpPr>
          <p:nvPr>
            <p:ph type="title"/>
          </p:nvPr>
        </p:nvSpPr>
        <p:spPr>
          <a:xfrm>
            <a:off x="354000" y="1239033"/>
            <a:ext cx="5393700" cy="23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hfdfb8fb64a5011c_1_232"/>
          <p:cNvSpPr txBox="1">
            <a:spLocks noGrp="1"/>
          </p:cNvSpPr>
          <p:nvPr>
            <p:ph type="subTitle" idx="1"/>
          </p:nvPr>
        </p:nvSpPr>
        <p:spPr>
          <a:xfrm>
            <a:off x="354000" y="3692001"/>
            <a:ext cx="5393700" cy="20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99" name="Google Shape;99;hfdfb8fb64a5011c_1_232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hfdfb8fb64a5011c_1_23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fdfb8fb64a5011c_1_239"/>
          <p:cNvSpPr txBox="1">
            <a:spLocks noGrp="1"/>
          </p:cNvSpPr>
          <p:nvPr>
            <p:ph type="body" idx="1"/>
          </p:nvPr>
        </p:nvSpPr>
        <p:spPr>
          <a:xfrm>
            <a:off x="426000" y="5625233"/>
            <a:ext cx="7998300" cy="7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103" name="Google Shape;103;hfdfb8fb64a5011c_1_23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fdfb8fb64a5011c_1_242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hfdfb8fb64a5011c_1_242"/>
          <p:cNvSpPr txBox="1">
            <a:spLocks noGrp="1"/>
          </p:cNvSpPr>
          <p:nvPr>
            <p:ph type="title" hasCustomPrompt="1"/>
          </p:nvPr>
        </p:nvSpPr>
        <p:spPr>
          <a:xfrm>
            <a:off x="415600" y="1276167"/>
            <a:ext cx="11360700" cy="28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hfdfb8fb64a5011c_1_242"/>
          <p:cNvSpPr txBox="1">
            <a:spLocks noGrp="1"/>
          </p:cNvSpPr>
          <p:nvPr>
            <p:ph type="body" idx="1"/>
          </p:nvPr>
        </p:nvSpPr>
        <p:spPr>
          <a:xfrm>
            <a:off x="415600" y="4216000"/>
            <a:ext cx="113607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08" name="Google Shape;108;hfdfb8fb64a5011c_1_24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fdfb8fb64a5011c_1_24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fdfb8fb64a5011c_1_1057"/>
          <p:cNvSpPr/>
          <p:nvPr/>
        </p:nvSpPr>
        <p:spPr>
          <a:xfrm>
            <a:off x="3658683" y="1008933"/>
            <a:ext cx="1442131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hfdfb8fb64a5011c_1_1057"/>
          <p:cNvSpPr/>
          <p:nvPr/>
        </p:nvSpPr>
        <p:spPr>
          <a:xfrm rot="10800000">
            <a:off x="7091169" y="4355671"/>
            <a:ext cx="1442131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hfdfb8fb64a5011c_1_1057"/>
          <p:cNvSpPr txBox="1">
            <a:spLocks noGrp="1"/>
          </p:cNvSpPr>
          <p:nvPr>
            <p:ph type="ctrTitle"/>
          </p:nvPr>
        </p:nvSpPr>
        <p:spPr>
          <a:xfrm>
            <a:off x="4059600" y="1925674"/>
            <a:ext cx="40728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hfdfb8fb64a5011c_1_1057"/>
          <p:cNvSpPr txBox="1">
            <a:spLocks noGrp="1"/>
          </p:cNvSpPr>
          <p:nvPr>
            <p:ph type="subTitle" idx="1"/>
          </p:nvPr>
        </p:nvSpPr>
        <p:spPr>
          <a:xfrm>
            <a:off x="4059600" y="4155440"/>
            <a:ext cx="4072800" cy="9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20" name="Google Shape;120;hfdfb8fb64a5011c_1_105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fdfb8fb64a5011c_1_106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fdfb8fb64a5011c_1_1065"/>
          <p:cNvSpPr/>
          <p:nvPr/>
        </p:nvSpPr>
        <p:spPr>
          <a:xfrm flipH="1">
            <a:off x="10127953" y="613633"/>
            <a:ext cx="1442131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125" name="Google Shape;125;hfdfb8fb64a5011c_1_1065"/>
          <p:cNvSpPr/>
          <p:nvPr/>
        </p:nvSpPr>
        <p:spPr>
          <a:xfrm rot="10800000" flipH="1">
            <a:off x="621900" y="4744471"/>
            <a:ext cx="1442131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126" name="Google Shape;126;hfdfb8fb64a5011c_1_1065"/>
          <p:cNvSpPr txBox="1">
            <a:spLocks noGrp="1"/>
          </p:cNvSpPr>
          <p:nvPr>
            <p:ph type="title"/>
          </p:nvPr>
        </p:nvSpPr>
        <p:spPr>
          <a:xfrm>
            <a:off x="1031600" y="2408600"/>
            <a:ext cx="10128900" cy="20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hfdfb8fb64a5011c_1_106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fdfb8fb64a5011c_1_1070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hfdfb8fb64a5011c_1_1070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hfdfb8fb64a5011c_1_1070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113607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2" name="Google Shape;132;hfdfb8fb64a5011c_1_107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fdfb8fb64a5011c_1_1075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hfdfb8fb64a5011c_1_1075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53331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36" name="Google Shape;136;hfdfb8fb64a5011c_1_1075"/>
          <p:cNvSpPr txBox="1">
            <a:spLocks noGrp="1"/>
          </p:cNvSpPr>
          <p:nvPr>
            <p:ph type="body" idx="2"/>
          </p:nvPr>
        </p:nvSpPr>
        <p:spPr>
          <a:xfrm>
            <a:off x="6443200" y="1633633"/>
            <a:ext cx="53331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37" name="Google Shape;137;hfdfb8fb64a5011c_1_107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fdfb8fb64a5011c_1_1080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hfdfb8fb64a5011c_1_108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fdfb8fb64a5011c_1_1083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3" name="Google Shape;143;hfdfb8fb64a5011c_1_1083"/>
          <p:cNvSpPr txBox="1">
            <a:spLocks noGrp="1"/>
          </p:cNvSpPr>
          <p:nvPr>
            <p:ph type="body" idx="1"/>
          </p:nvPr>
        </p:nvSpPr>
        <p:spPr>
          <a:xfrm>
            <a:off x="415600" y="1865867"/>
            <a:ext cx="3744000" cy="3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44" name="Google Shape;144;hfdfb8fb64a5011c_1_108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fdfb8fb64a5011c_1_1087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hfdfb8fb64a5011c_1_1087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78384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148" name="Google Shape;148;hfdfb8fb64a5011c_1_108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fdfb8fb64a5011c_1_1091"/>
          <p:cNvSpPr/>
          <p:nvPr/>
        </p:nvSpPr>
        <p:spPr>
          <a:xfrm>
            <a:off x="6096000" y="-33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hfdfb8fb64a5011c_1_1091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2" name="Google Shape;152;hfdfb8fb64a5011c_1_1091"/>
          <p:cNvSpPr txBox="1">
            <a:spLocks noGrp="1"/>
          </p:cNvSpPr>
          <p:nvPr>
            <p:ph type="title"/>
          </p:nvPr>
        </p:nvSpPr>
        <p:spPr>
          <a:xfrm>
            <a:off x="354000" y="1239033"/>
            <a:ext cx="5393700" cy="23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53" name="Google Shape;153;hfdfb8fb64a5011c_1_1091"/>
          <p:cNvSpPr txBox="1">
            <a:spLocks noGrp="1"/>
          </p:cNvSpPr>
          <p:nvPr>
            <p:ph type="subTitle" idx="1"/>
          </p:nvPr>
        </p:nvSpPr>
        <p:spPr>
          <a:xfrm>
            <a:off x="354000" y="3692001"/>
            <a:ext cx="5393700" cy="20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54" name="Google Shape;154;hfdfb8fb64a5011c_1_1091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hfdfb8fb64a5011c_1_109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fdfb8fb64a5011c_1_1098"/>
          <p:cNvSpPr txBox="1">
            <a:spLocks noGrp="1"/>
          </p:cNvSpPr>
          <p:nvPr>
            <p:ph type="body" idx="1"/>
          </p:nvPr>
        </p:nvSpPr>
        <p:spPr>
          <a:xfrm>
            <a:off x="426000" y="5625233"/>
            <a:ext cx="7998300" cy="7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158" name="Google Shape;158;hfdfb8fb64a5011c_1_109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fdfb8fb64a5011c_1_1101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hfdfb8fb64a5011c_1_1101"/>
          <p:cNvSpPr txBox="1">
            <a:spLocks noGrp="1"/>
          </p:cNvSpPr>
          <p:nvPr>
            <p:ph type="title" hasCustomPrompt="1"/>
          </p:nvPr>
        </p:nvSpPr>
        <p:spPr>
          <a:xfrm>
            <a:off x="415600" y="1276167"/>
            <a:ext cx="11360700" cy="28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2" name="Google Shape;162;hfdfb8fb64a5011c_1_1101"/>
          <p:cNvSpPr txBox="1">
            <a:spLocks noGrp="1"/>
          </p:cNvSpPr>
          <p:nvPr>
            <p:ph type="body" idx="1"/>
          </p:nvPr>
        </p:nvSpPr>
        <p:spPr>
          <a:xfrm>
            <a:off x="415600" y="4216000"/>
            <a:ext cx="113607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63" name="Google Shape;163;hfdfb8fb64a5011c_1_110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a4cc17cc6_1_639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g3fa4cc17cc6_1_639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113607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○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■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●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○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■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●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○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■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g3fa4cc17cc6_1_63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fdfb8fb64a5011c_1_196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60" name="Google Shape;60;hfdfb8fb64a5011c_1_196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113607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○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■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●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○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■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●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○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■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61" name="Google Shape;61;hfdfb8fb64a5011c_1_19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fdfb8fb64a5011c_1_1053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13" name="Google Shape;113;hfdfb8fb64a5011c_1_1053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113607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○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■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●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○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■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●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○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■"/>
              <a:defRPr sz="19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14" name="Google Shape;114;hfdfb8fb64a5011c_1_105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4529" y="495097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"/>
          <p:cNvSpPr txBox="1"/>
          <p:nvPr/>
        </p:nvSpPr>
        <p:spPr>
          <a:xfrm>
            <a:off x="1" y="2707792"/>
            <a:ext cx="12192000" cy="18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“Tótem: Ap</a:t>
            </a:r>
            <a:r>
              <a:rPr lang="es-CL" sz="4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titudes Físicas</a:t>
            </a:r>
            <a:endParaRPr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Automatizado”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C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FASE 2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2"/>
          <p:cNvGrpSpPr/>
          <p:nvPr/>
        </p:nvGrpSpPr>
        <p:grpSpPr>
          <a:xfrm>
            <a:off x="4121026" y="1710819"/>
            <a:ext cx="7633553" cy="4350553"/>
            <a:chOff x="0" y="0"/>
            <a:chExt cx="7633553" cy="4350553"/>
          </a:xfrm>
        </p:grpSpPr>
        <p:sp>
          <p:nvSpPr>
            <p:cNvPr id="176" name="Google Shape;176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Cristóbal Hernández Orellana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Liderazgo del proyecto / De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sarrollo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name="adj" fmla="val 10000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"/>
            <p:cNvSpPr txBox="1"/>
            <p:nvPr/>
          </p:nvSpPr>
          <p:spPr>
            <a:xfrm>
              <a:off x="1662653" y="1495502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Thomas Gutiérrez Suárez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Product Owner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Hablar con clientes / Desarrollo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name="adj" fmla="val 10000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Sebastián Jara Correa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Equipo de Scrum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/ Gestión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name="adj" fmla="val 10000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5" name="Google Shape;185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"/>
            <a:headEnd type="none" w="sm" len="sm"/>
            <a:tailEnd type="none" w="sm" len="sm"/>
          </a:ln>
        </p:spPr>
      </p:cxn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194" name="Google Shape;194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los gimnasios dentro de DUOC no se encuentra una manera real de poder prepararse o revisar su estado de salud actual antes de realizar una sesión de ejercicio, normalmente intensiva. Esto puede llevar a problemas durante el ejercicio, que pueden ser ignorados o minimizados al no saber cómo se encuentra su cuerpo en ese momento.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tótem desatendido, revisado por personal del gimnasio, extrae datos de sensores biométricos y de una prueba de calentamiento y los transmite a una arquitectura Cloud, donde un algoritmo predictivo clasifica su nivel de salud y el nivel de ejercicio recomendado.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204" name="Google Shape;204;p4"/>
          <p:cNvSpPr txBox="1"/>
          <p:nvPr/>
        </p:nvSpPr>
        <p:spPr>
          <a:xfrm>
            <a:off x="1" y="408244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Específico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tótem automatizado con inteligencia artificial que permita preparar al usuario para su rutina de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ejercicio, sentando las bases técnicas y documentales necesarias para su futura certificación de uso rutinario.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Optimizar la preparación de los usuarios de gimnasio para prevenir accidentes o peligros de salud debido a la falta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información previa.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6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6"/>
          <p:cNvSpPr txBox="1"/>
          <p:nvPr/>
        </p:nvSpPr>
        <p:spPr>
          <a:xfrm>
            <a:off x="205500" y="9961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"/>
            <a:headEnd type="none" w="sm" len="sm"/>
            <a:tailEnd type="none" w="sm" len="sm"/>
          </a:ln>
        </p:spPr>
      </p:cxnSp>
      <p:pic>
        <p:nvPicPr>
          <p:cNvPr id="214" name="Google Shape;214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600" y="1880736"/>
            <a:ext cx="6032475" cy="4474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hfdfb8fb64a5011c_1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8700" y="135075"/>
            <a:ext cx="18097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hfdfb8fb64a5011c_1_13"/>
          <p:cNvSpPr txBox="1">
            <a:spLocks noGrp="1"/>
          </p:cNvSpPr>
          <p:nvPr>
            <p:ph type="ctrTitle" idx="4294967295"/>
          </p:nvPr>
        </p:nvSpPr>
        <p:spPr>
          <a:xfrm>
            <a:off x="3054150" y="172975"/>
            <a:ext cx="6083700" cy="10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CL"/>
              <a:t>Product vision</a:t>
            </a:r>
            <a:endParaRPr/>
          </a:p>
        </p:txBody>
      </p:sp>
      <p:pic>
        <p:nvPicPr>
          <p:cNvPr id="221" name="Google Shape;221;hfdfb8fb64a5011c_1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25" y="2134800"/>
            <a:ext cx="6242599" cy="2588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hfdfb8fb64a5011c_1_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45325" y="1750275"/>
            <a:ext cx="5629350" cy="297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hfdfb8fb64a5011c_1_3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8700" y="135075"/>
            <a:ext cx="18097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hfdfb8fb64a5011c_1_372"/>
          <p:cNvSpPr txBox="1">
            <a:spLocks noGrp="1"/>
          </p:cNvSpPr>
          <p:nvPr>
            <p:ph type="ctrTitle" idx="4294967295"/>
          </p:nvPr>
        </p:nvSpPr>
        <p:spPr>
          <a:xfrm>
            <a:off x="3054150" y="172975"/>
            <a:ext cx="6083700" cy="10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CL"/>
              <a:t>Product vision</a:t>
            </a:r>
            <a:endParaRPr/>
          </a:p>
        </p:txBody>
      </p:sp>
      <p:pic>
        <p:nvPicPr>
          <p:cNvPr id="229" name="Google Shape;229;hfdfb8fb64a5011c_1_3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838" y="1643150"/>
            <a:ext cx="4642300" cy="2261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hfdfb8fb64a5011c_1_3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71200" y="1650650"/>
            <a:ext cx="4690525" cy="2246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hfdfb8fb64a5011c_1_3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8113" y="4126651"/>
            <a:ext cx="4895776" cy="199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hfdfb8fb64a5011c_1_3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04991" y="4088161"/>
            <a:ext cx="5422947" cy="207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hfdfb8fb64a5011c_1_12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8700" y="135075"/>
            <a:ext cx="18097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hfdfb8fb64a5011c_1_1243"/>
          <p:cNvSpPr txBox="1">
            <a:spLocks noGrp="1"/>
          </p:cNvSpPr>
          <p:nvPr>
            <p:ph type="ctrTitle" idx="4294967295"/>
          </p:nvPr>
        </p:nvSpPr>
        <p:spPr>
          <a:xfrm>
            <a:off x="3054150" y="172975"/>
            <a:ext cx="6083700" cy="10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CL"/>
              <a:t>Product vision</a:t>
            </a:r>
            <a:endParaRPr/>
          </a:p>
        </p:txBody>
      </p:sp>
      <p:pic>
        <p:nvPicPr>
          <p:cNvPr id="239" name="Google Shape;239;hfdfb8fb64a5011c_1_12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775" y="2590225"/>
            <a:ext cx="5594150" cy="267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hfdfb8fb64a5011c_1_12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57725" y="2715950"/>
            <a:ext cx="5920900" cy="23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hfdfb8fb64a5011c_1_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0325" y="39950"/>
            <a:ext cx="18097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hfdfb8fb64a5011c_1_72"/>
          <p:cNvSpPr txBox="1">
            <a:spLocks noGrp="1"/>
          </p:cNvSpPr>
          <p:nvPr>
            <p:ph type="ctrTitle" idx="4294967295"/>
          </p:nvPr>
        </p:nvSpPr>
        <p:spPr>
          <a:xfrm>
            <a:off x="3054138" y="0"/>
            <a:ext cx="6083700" cy="10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CL"/>
              <a:t>Product backlog</a:t>
            </a:r>
            <a:endParaRPr/>
          </a:p>
        </p:txBody>
      </p:sp>
      <p:graphicFrame>
        <p:nvGraphicFramePr>
          <p:cNvPr id="247" name="Google Shape;247;hfdfb8fb64a5011c_1_72"/>
          <p:cNvGraphicFramePr/>
          <p:nvPr/>
        </p:nvGraphicFramePr>
        <p:xfrm>
          <a:off x="119375" y="1338600"/>
          <a:ext cx="11953225" cy="4473650"/>
        </p:xfrm>
        <a:graphic>
          <a:graphicData uri="http://schemas.openxmlformats.org/drawingml/2006/table">
            <a:tbl>
              <a:tblPr>
                <a:noFill/>
                <a:tableStyleId>{28940ED5-32B1-469B-8B4F-D22008600FFA}</a:tableStyleId>
              </a:tblPr>
              <a:tblGrid>
                <a:gridCol w="4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6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7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9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17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6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17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68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542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1">
                          <a:solidFill>
                            <a:srgbClr val="FFFFFF"/>
                          </a:solidFill>
                        </a:rPr>
                        <a:t>ID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1">
                          <a:solidFill>
                            <a:srgbClr val="FFFFFF"/>
                          </a:solidFill>
                        </a:rPr>
                        <a:t>Épica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1">
                          <a:solidFill>
                            <a:srgbClr val="FFFFFF"/>
                          </a:solidFill>
                        </a:rPr>
                        <a:t>Historia de Usuario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1">
                          <a:solidFill>
                            <a:srgbClr val="FFFFFF"/>
                          </a:solidFill>
                        </a:rPr>
                        <a:t>Tipo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1">
                          <a:solidFill>
                            <a:srgbClr val="FFFFFF"/>
                          </a:solidFill>
                        </a:rPr>
                        <a:t>Actores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1">
                          <a:solidFill>
                            <a:srgbClr val="FFFFFF"/>
                          </a:solidFill>
                        </a:rPr>
                        <a:t>Criterio de Aceptación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1">
                          <a:solidFill>
                            <a:srgbClr val="FFFFFF"/>
                          </a:solidFill>
                        </a:rPr>
                        <a:t>Prioridad (MoSCoW)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1">
                          <a:solidFill>
                            <a:srgbClr val="FFFFFF"/>
                          </a:solidFill>
                        </a:rPr>
                        <a:t>Story Points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1">
                          <a:solidFill>
                            <a:srgbClr val="FFFFFF"/>
                          </a:solidFill>
                        </a:rPr>
                        <a:t>Sprint planificado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1">
                          <a:solidFill>
                            <a:srgbClr val="FFFFFF"/>
                          </a:solidFill>
                        </a:rPr>
                        <a:t>Estado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5C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5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R.131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Gestión del Encargado de Gimnasio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Como encargado del gimnasio, quiero mostrar cómo cambian las mediciones del usuario entre evaluaciones, por ejemplo peso o presión, para permitir que el personal del gimnasio supervise y valide el proceso.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Funcional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Encargado del gimnasio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Dado que el usuario/sistema cumple las condiciones descritas, cuando se ejecute la función, entonces el sistema deberá mostrar cómo cambian las mediciones del usuario entre evaluaciones, por ejemplo peso o presión, cumpliendo el requerimiento funcional.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Must have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5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Sprint 5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Pendiente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6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R.132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Gestión del Encargado de Gimnasio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Como encargado del gimnasio, quiero permitir consultar los factores utilizados por la IA, para permitir que el personal del gimnasio supervise y valide el proceso.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Funcional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Encargado del gimnasio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Dado que el usuario/sistema cumple las condiciones descritas, cuando se ejecute la función, entonces el sistema deberá permitir consultar los factores utilizados por la IA, cumpliendo el requerimiento funcional.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Must have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3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Sprint 5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Pendiente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6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R.133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Gestión del Encargado de Gimnasio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Como encargado del gimnasio, quiero registrar la confirmación hecha por el encargado, para permitir que el personal del gimnasio supervise y valide el proceso.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Funcional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Encargado del gimnasio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Dado que el usuario/sistema cumple las condiciones descritas, cuando se ejecute la función, entonces el sistema deberá registrar la confirmación hecha por el encargado, cumpliendo el requerimiento funcional.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Must have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2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Sprint 5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Pendiente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hfdfb8fb64a5011c_1_1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4625" y="48575"/>
            <a:ext cx="18097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hfdfb8fb64a5011c_1_190"/>
          <p:cNvSpPr txBox="1">
            <a:spLocks noGrp="1"/>
          </p:cNvSpPr>
          <p:nvPr>
            <p:ph type="ctrTitle" idx="4294967295"/>
          </p:nvPr>
        </p:nvSpPr>
        <p:spPr>
          <a:xfrm>
            <a:off x="3054150" y="0"/>
            <a:ext cx="6083700" cy="10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CL"/>
              <a:t>Sprint Backlog</a:t>
            </a:r>
            <a:endParaRPr/>
          </a:p>
        </p:txBody>
      </p:sp>
      <p:graphicFrame>
        <p:nvGraphicFramePr>
          <p:cNvPr id="254" name="Google Shape;254;hfdfb8fb64a5011c_1_190"/>
          <p:cNvGraphicFramePr/>
          <p:nvPr/>
        </p:nvGraphicFramePr>
        <p:xfrm>
          <a:off x="2486025" y="1242075"/>
          <a:ext cx="7219950" cy="5421495"/>
        </p:xfrm>
        <a:graphic>
          <a:graphicData uri="http://schemas.openxmlformats.org/drawingml/2006/table">
            <a:tbl>
              <a:tblPr>
                <a:noFill/>
                <a:tableStyleId>{28940ED5-32B1-469B-8B4F-D22008600FFA}</a:tableStyleId>
              </a:tblPr>
              <a:tblGrid>
                <a:gridCol w="790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1">
                          <a:solidFill>
                            <a:srgbClr val="FFFFFF"/>
                          </a:solidFill>
                        </a:rPr>
                        <a:t>Sprint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75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1">
                          <a:solidFill>
                            <a:srgbClr val="FFFFFF"/>
                          </a:solidFill>
                        </a:rPr>
                        <a:t>Semanas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75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1">
                          <a:solidFill>
                            <a:srgbClr val="FFFFFF"/>
                          </a:solidFill>
                        </a:rPr>
                        <a:t>Objetivo del Sprint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75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1">
                          <a:solidFill>
                            <a:srgbClr val="FFFFFF"/>
                          </a:solidFill>
                        </a:rPr>
                        <a:t>N° Historias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75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1">
                          <a:solidFill>
                            <a:srgbClr val="FFFFFF"/>
                          </a:solidFill>
                        </a:rPr>
                        <a:t>Story Points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75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Sprint 1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Semanas 1-2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Levantamiento de requerimientos y gestión de identidad del usuario — sentar la base del flujo de registro.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10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31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Sprint 2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Semanas 3-4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Configuración base del sistema y continuidad del flujo de identificación / administración.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40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107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Sprint 3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Semanas 5-6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Integrar sensores biométricos (ESP32) y habilitar la interacción física con el tótem.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35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93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Sprint 4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Semanas 7-8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Construir el cuestionario de salud y la experiencia de usuario (usabilidad y accesibilidad) en el tótem.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55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141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Sprint 5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Semanas 9-10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Desarrollar el motor de recomendación de IA y el panel de gestión del encargado.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45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135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Sprint 6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Semanas 11-12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Asegurar integración entre componentes, seguridad/privacidad de datos y rendimiento del sistema.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45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149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Sprint 7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Semanas 13-14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Cerrar QA de calidad, confiabilidad y validación antes del piloto.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10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28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Sprint 8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Semanas 15-16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Ejecutar el piloto en gimnasio y preparar la documentación de mantenimiento.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5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12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Sprint 9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Semanas 17-18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Cierre del proyecto: escalabilidad, mantenimiento e informe final.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5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12</a:t>
                      </a:r>
                      <a:endParaRPr sz="1000"/>
                    </a:p>
                  </a:txBody>
                  <a:tcPr marL="28575" marR="2857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1"/>
                        <a:t>TOTAL</a:t>
                      </a:r>
                      <a:endParaRPr sz="11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1"/>
                        <a:t>250</a:t>
                      </a:r>
                      <a:endParaRPr sz="11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1"/>
                        <a:t>708</a:t>
                      </a:r>
                      <a:endParaRPr sz="1100" b="1"/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hfdfb8fb64a5011c_1_2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7625" y="256150"/>
            <a:ext cx="18097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hfdfb8fb64a5011c_1_249"/>
          <p:cNvSpPr txBox="1">
            <a:spLocks noGrp="1"/>
          </p:cNvSpPr>
          <p:nvPr>
            <p:ph type="ctrTitle" idx="4294967295"/>
          </p:nvPr>
        </p:nvSpPr>
        <p:spPr>
          <a:xfrm>
            <a:off x="3054150" y="122100"/>
            <a:ext cx="6083700" cy="10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CL"/>
              <a:t>Definition of Done</a:t>
            </a:r>
            <a:endParaRPr/>
          </a:p>
        </p:txBody>
      </p:sp>
      <p:pic>
        <p:nvPicPr>
          <p:cNvPr id="261" name="Google Shape;261;hfdfb8fb64a5011c_1_249" title="Definicion_de_Terminad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924" y="1066250"/>
            <a:ext cx="10684150" cy="5748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hfdfb8fb64a5011c_1_3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0050" y="290725"/>
            <a:ext cx="18097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hfdfb8fb64a5011c_1_308"/>
          <p:cNvSpPr txBox="1">
            <a:spLocks noGrp="1"/>
          </p:cNvSpPr>
          <p:nvPr>
            <p:ph type="ctrTitle" idx="4294967295"/>
          </p:nvPr>
        </p:nvSpPr>
        <p:spPr>
          <a:xfrm>
            <a:off x="3054150" y="233525"/>
            <a:ext cx="6083700" cy="10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CL"/>
              <a:t>Retrospectivas</a:t>
            </a:r>
            <a:endParaRPr/>
          </a:p>
        </p:txBody>
      </p:sp>
      <p:pic>
        <p:nvPicPr>
          <p:cNvPr id="268" name="Google Shape;268;hfdfb8fb64a5011c_1_308" title="Retrospectiva_Sprint_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600" y="1631850"/>
            <a:ext cx="11740810" cy="4528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hfdfb8fb64a5011c_1_4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87325" y="53975"/>
            <a:ext cx="18097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hfdfb8fb64a5011c_1_440"/>
          <p:cNvSpPr txBox="1">
            <a:spLocks noGrp="1"/>
          </p:cNvSpPr>
          <p:nvPr>
            <p:ph type="ctrTitle" idx="4294967295"/>
          </p:nvPr>
        </p:nvSpPr>
        <p:spPr>
          <a:xfrm>
            <a:off x="4059600" y="266974"/>
            <a:ext cx="40728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</a:pPr>
            <a:r>
              <a:rPr lang="es-CL"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Diagrama de casos de uso</a:t>
            </a:r>
            <a:endParaRPr sz="5600" b="0" i="0" u="none" strike="noStrike" cap="none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275" name="Google Shape;275;hfdfb8fb64a5011c_1_440" title="Copia de Casos de uso - Dashboar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9225" y="2468974"/>
            <a:ext cx="4327846" cy="4236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hfdfb8fb64a5011c_1_440" title="Copia de Casos de uso - Tótem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94671" y="2468974"/>
            <a:ext cx="4132521" cy="423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hfdfb8fb64a5011c_1_12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8700" y="135075"/>
            <a:ext cx="18097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hfdfb8fb64a5011c_1_1255"/>
          <p:cNvSpPr txBox="1">
            <a:spLocks noGrp="1"/>
          </p:cNvSpPr>
          <p:nvPr>
            <p:ph type="ctrTitle" idx="4294967295"/>
          </p:nvPr>
        </p:nvSpPr>
        <p:spPr>
          <a:xfrm>
            <a:off x="3753175" y="0"/>
            <a:ext cx="5293800" cy="13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</a:pPr>
            <a:r>
              <a:rPr lang="es-CL"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Diagrama de clases</a:t>
            </a:r>
            <a:endParaRPr sz="5600" b="0" i="0" u="none" strike="noStrike" cap="none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283" name="Google Shape;283;hfdfb8fb64a5011c_1_12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0400" y="1329000"/>
            <a:ext cx="10741601" cy="5529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hfdfb8fb64a5011c_1_12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8700" y="135075"/>
            <a:ext cx="18097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hfdfb8fb64a5011c_1_1271"/>
          <p:cNvSpPr txBox="1">
            <a:spLocks noGrp="1"/>
          </p:cNvSpPr>
          <p:nvPr>
            <p:ph type="ctrTitle" idx="4294967295"/>
          </p:nvPr>
        </p:nvSpPr>
        <p:spPr>
          <a:xfrm>
            <a:off x="3753175" y="0"/>
            <a:ext cx="5293800" cy="13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</a:pPr>
            <a:r>
              <a:rPr lang="es-CL"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Diagrama de clases</a:t>
            </a:r>
            <a:endParaRPr sz="5600" b="0" i="0" u="none" strike="noStrike" cap="none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290" name="Google Shape;290;hfdfb8fb64a5011c_1_12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329000"/>
            <a:ext cx="10380076" cy="5528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hfdfb8fb64a5011c_1_5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8700" y="135075"/>
            <a:ext cx="18097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hfdfb8fb64a5011c_1_560"/>
          <p:cNvSpPr txBox="1">
            <a:spLocks noGrp="1"/>
          </p:cNvSpPr>
          <p:nvPr>
            <p:ph type="ctrTitle" idx="4294967295"/>
          </p:nvPr>
        </p:nvSpPr>
        <p:spPr>
          <a:xfrm>
            <a:off x="3915400" y="320825"/>
            <a:ext cx="5600100" cy="9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Economica"/>
              <a:buNone/>
            </a:pPr>
            <a:r>
              <a:rPr lang="es-CL"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Diagrama de secuencia</a:t>
            </a:r>
            <a:endParaRPr sz="5600" b="0" i="0" u="none" strike="noStrike" cap="none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297" name="Google Shape;297;hfdfb8fb64a5011c_1_5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209800"/>
            <a:ext cx="12191999" cy="5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hfdfb8fb64a5011c_2_1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8700" y="135075"/>
            <a:ext cx="180975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hfdfb8fb64a5011c_2_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hfdfb8fb64a5011c_2_1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8700" y="135075"/>
            <a:ext cx="180975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hfdfb8fb64a5011c_2_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1999" cy="596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hfdfb8fb64a5011c_2_130"/>
          <p:cNvPicPr preferRelativeResize="0"/>
          <p:nvPr/>
        </p:nvPicPr>
        <p:blipFill rotWithShape="1">
          <a:blip r:embed="rId5">
            <a:alphaModFix/>
          </a:blip>
          <a:srcRect t="5880" b="-5880"/>
          <a:stretch/>
        </p:blipFill>
        <p:spPr>
          <a:xfrm>
            <a:off x="-253625" y="5627250"/>
            <a:ext cx="12615076" cy="56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hfdfb8fb64a5011c_2_1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86600" y="6025625"/>
            <a:ext cx="4495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hfdfb8fb64a5011c_2_130"/>
          <p:cNvSpPr txBox="1"/>
          <p:nvPr/>
        </p:nvSpPr>
        <p:spPr>
          <a:xfrm>
            <a:off x="10518100" y="5987225"/>
            <a:ext cx="606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4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(Rol Encargado)</a:t>
            </a:r>
            <a:endParaRPr sz="4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3" name="Google Shape;313;hfdfb8fb64a5011c_2_130"/>
          <p:cNvSpPr txBox="1"/>
          <p:nvPr/>
        </p:nvSpPr>
        <p:spPr>
          <a:xfrm>
            <a:off x="11644667" y="5977509"/>
            <a:ext cx="523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(Rol Admin)</a:t>
            </a:r>
            <a:endParaRPr sz="4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hfdfb8fb64a5011c_1_6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8700" y="135075"/>
            <a:ext cx="18097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hfdfb8fb64a5011c_1_620"/>
          <p:cNvSpPr txBox="1">
            <a:spLocks noGrp="1"/>
          </p:cNvSpPr>
          <p:nvPr>
            <p:ph type="ctrTitle" idx="4294967295"/>
          </p:nvPr>
        </p:nvSpPr>
        <p:spPr>
          <a:xfrm>
            <a:off x="3753850" y="-309225"/>
            <a:ext cx="72069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</a:pPr>
            <a:r>
              <a:rPr lang="es-CL"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Diagrama de comunicación</a:t>
            </a:r>
            <a:endParaRPr sz="5600" b="0" i="0" u="none" strike="noStrike" cap="none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320" name="Google Shape;320;hfdfb8fb64a5011c_1_6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740375"/>
            <a:ext cx="12192000" cy="5117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hfdfb8fb64a5011c_1_12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8700" y="135075"/>
            <a:ext cx="18097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hfdfb8fb64a5011c_1_1286"/>
          <p:cNvSpPr txBox="1">
            <a:spLocks noGrp="1"/>
          </p:cNvSpPr>
          <p:nvPr>
            <p:ph type="ctrTitle" idx="4294967295"/>
          </p:nvPr>
        </p:nvSpPr>
        <p:spPr>
          <a:xfrm>
            <a:off x="3789125" y="-239775"/>
            <a:ext cx="64425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</a:pPr>
            <a:r>
              <a:rPr lang="es-CL"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Diagrama de comunicación</a:t>
            </a:r>
            <a:endParaRPr sz="5600" b="0" i="0" u="none" strike="noStrike" cap="none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327" name="Google Shape;327;hfdfb8fb64a5011c_1_12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742750"/>
            <a:ext cx="12192000" cy="511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hfdfb8fb64a5011c_1_6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8700" y="135075"/>
            <a:ext cx="18097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hfdfb8fb64a5011c_1_680"/>
          <p:cNvSpPr txBox="1">
            <a:spLocks noGrp="1"/>
          </p:cNvSpPr>
          <p:nvPr>
            <p:ph type="ctrTitle" idx="4294967295"/>
          </p:nvPr>
        </p:nvSpPr>
        <p:spPr>
          <a:xfrm>
            <a:off x="4059600" y="266974"/>
            <a:ext cx="40728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</a:pPr>
            <a:r>
              <a:rPr lang="es-CL"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Diagrama de actividad</a:t>
            </a:r>
            <a:endParaRPr sz="5600" b="0" i="0" u="none" strike="noStrike" cap="none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334" name="Google Shape;334;hfdfb8fb64a5011c_1_680" title="Copia de Actividad - Análisis y alerta crítica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468974"/>
            <a:ext cx="5074376" cy="4236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hfdfb8fb64a5011c_1_680" title="Copia de Actividad - Inicio de sesión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57250" y="2534698"/>
            <a:ext cx="3754801" cy="402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hfdfb8fb64a5011c_1_680" title="Copia de Actividad - Validación del encargado de salu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03900" y="2330350"/>
            <a:ext cx="2976224" cy="4513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hfdfb8fb64a5011c_1_7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625" y="1868625"/>
            <a:ext cx="10538752" cy="4989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hfdfb8fb64a5011c_1_7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88750" y="2775350"/>
            <a:ext cx="18097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hfdfb8fb64a5011c_1_741"/>
          <p:cNvSpPr txBox="1">
            <a:spLocks noGrp="1"/>
          </p:cNvSpPr>
          <p:nvPr>
            <p:ph type="ctrTitle" idx="4294967295"/>
          </p:nvPr>
        </p:nvSpPr>
        <p:spPr>
          <a:xfrm>
            <a:off x="5248450" y="3165875"/>
            <a:ext cx="6087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Economica"/>
              <a:buNone/>
            </a:pPr>
            <a:r>
              <a:rPr lang="es-CL"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Diagrama de paquetes</a:t>
            </a:r>
            <a:endParaRPr sz="5600" b="0" i="0" u="none" strike="noStrike" cap="none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hfdfb8fb64a5011c_1_8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8" cy="5387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hfdfb8fb64a5011c_1_80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4075" y="5224951"/>
            <a:ext cx="695325" cy="5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hfdfb8fb64a5011c_1_8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8700" y="135075"/>
            <a:ext cx="18097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hfdfb8fb64a5011c_1_859"/>
          <p:cNvSpPr txBox="1">
            <a:spLocks noGrp="1"/>
          </p:cNvSpPr>
          <p:nvPr>
            <p:ph type="ctrTitle" idx="4294967295"/>
          </p:nvPr>
        </p:nvSpPr>
        <p:spPr>
          <a:xfrm>
            <a:off x="3871450" y="-448000"/>
            <a:ext cx="67836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</a:pPr>
            <a:r>
              <a:rPr lang="es-CL"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Diagrama de componentes</a:t>
            </a:r>
            <a:endParaRPr sz="5600" b="0" i="0" u="none" strike="noStrike" cap="none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356" name="Google Shape;356;hfdfb8fb64a5011c_1_859" title="Copia de Diagrama de componente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2202" y="1683925"/>
            <a:ext cx="10838198" cy="49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hfdfb8fb64a5011c_1_9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8700" y="135075"/>
            <a:ext cx="18097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hfdfb8fb64a5011c_1_918"/>
          <p:cNvSpPr txBox="1">
            <a:spLocks noGrp="1"/>
          </p:cNvSpPr>
          <p:nvPr>
            <p:ph type="ctrTitle" idx="4294967295"/>
          </p:nvPr>
        </p:nvSpPr>
        <p:spPr>
          <a:xfrm>
            <a:off x="5916000" y="228950"/>
            <a:ext cx="6276000" cy="8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 fontScale="90000"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Economica"/>
              <a:buNone/>
            </a:pPr>
            <a:r>
              <a:rPr lang="es-CL"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Diagrama de despliegue</a:t>
            </a:r>
            <a:endParaRPr sz="5600" b="0" i="0" u="none" strike="noStrike" cap="none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363" name="Google Shape;363;hfdfb8fb64a5011c_1_9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850" y="1022575"/>
            <a:ext cx="5523149" cy="5485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hfdfb8fb64a5011c_1_9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16000" y="1331675"/>
            <a:ext cx="6447925" cy="5329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hfdfb8fb64a5011c_1_1164"/>
          <p:cNvSpPr txBox="1">
            <a:spLocks noGrp="1"/>
          </p:cNvSpPr>
          <p:nvPr>
            <p:ph type="ctrTitle"/>
          </p:nvPr>
        </p:nvSpPr>
        <p:spPr>
          <a:xfrm>
            <a:off x="3054150" y="1106975"/>
            <a:ext cx="6083700" cy="1097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Diagrama BPMN To-Be</a:t>
            </a:r>
            <a:endParaRPr/>
          </a:p>
        </p:txBody>
      </p:sp>
      <p:pic>
        <p:nvPicPr>
          <p:cNvPr id="370" name="Google Shape;370;hfdfb8fb64a5011c_1_11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1650" y="2332050"/>
            <a:ext cx="8210350" cy="452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hfdfb8fb64a5011c_2_145"/>
          <p:cNvSpPr txBox="1">
            <a:spLocks noGrp="1"/>
          </p:cNvSpPr>
          <p:nvPr>
            <p:ph type="ctrTitle"/>
          </p:nvPr>
        </p:nvSpPr>
        <p:spPr>
          <a:xfrm>
            <a:off x="3054150" y="1106975"/>
            <a:ext cx="6083700" cy="1097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Diagrama BPMN To-Be</a:t>
            </a:r>
            <a:endParaRPr/>
          </a:p>
        </p:txBody>
      </p:sp>
      <p:pic>
        <p:nvPicPr>
          <p:cNvPr id="376" name="Google Shape;376;hfdfb8fb64a5011c_2_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93600"/>
            <a:ext cx="8566051" cy="4456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hfdfb8fb64a5011c_1_1223"/>
          <p:cNvSpPr txBox="1">
            <a:spLocks noGrp="1"/>
          </p:cNvSpPr>
          <p:nvPr>
            <p:ph type="ctrTitle"/>
          </p:nvPr>
        </p:nvSpPr>
        <p:spPr>
          <a:xfrm>
            <a:off x="2421200" y="4670150"/>
            <a:ext cx="6083700" cy="1097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Diagrama BPMN To-Be</a:t>
            </a:r>
            <a:endParaRPr/>
          </a:p>
        </p:txBody>
      </p:sp>
      <p:pic>
        <p:nvPicPr>
          <p:cNvPr id="382" name="Google Shape;382;hfdfb8fb64a5011c_1_12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" y="0"/>
            <a:ext cx="12115800" cy="442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hfdfb8fb64a5011c_1_1229"/>
          <p:cNvSpPr txBox="1">
            <a:spLocks noGrp="1"/>
          </p:cNvSpPr>
          <p:nvPr>
            <p:ph type="ctrTitle"/>
          </p:nvPr>
        </p:nvSpPr>
        <p:spPr>
          <a:xfrm>
            <a:off x="3253050" y="0"/>
            <a:ext cx="6083700" cy="1097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Diagrama entidad-relación</a:t>
            </a:r>
            <a:endParaRPr/>
          </a:p>
        </p:txBody>
      </p:sp>
      <p:pic>
        <p:nvPicPr>
          <p:cNvPr id="388" name="Google Shape;388;hfdfb8fb64a5011c_1_12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69350"/>
            <a:ext cx="11887199" cy="5005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mb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hfdfb8fb64a5011c_1_1298"/>
          <p:cNvSpPr txBox="1">
            <a:spLocks noGrp="1"/>
          </p:cNvSpPr>
          <p:nvPr>
            <p:ph type="ctrTitle"/>
          </p:nvPr>
        </p:nvSpPr>
        <p:spPr>
          <a:xfrm>
            <a:off x="0" y="5760900"/>
            <a:ext cx="6083700" cy="1097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Diagrama entidad-relación</a:t>
            </a:r>
            <a:endParaRPr/>
          </a:p>
        </p:txBody>
      </p:sp>
      <p:pic>
        <p:nvPicPr>
          <p:cNvPr id="394" name="Google Shape;394;hfdfb8fb64a5011c_1_12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5897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hfdfb8fb64a5011c_1_10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8700" y="135075"/>
            <a:ext cx="18097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hfdfb8fb64a5011c_1_1043"/>
          <p:cNvSpPr txBox="1">
            <a:spLocks noGrp="1"/>
          </p:cNvSpPr>
          <p:nvPr>
            <p:ph type="ctrTitle" idx="4294967295"/>
          </p:nvPr>
        </p:nvSpPr>
        <p:spPr>
          <a:xfrm>
            <a:off x="4059600" y="266974"/>
            <a:ext cx="40728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</a:pPr>
            <a:r>
              <a:rPr lang="es-CL"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Justificación de innovación</a:t>
            </a:r>
            <a:endParaRPr sz="5600" b="0" i="0" u="none" strike="noStrike" cap="none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01" name="Google Shape;401;hfdfb8fb64a5011c_1_1043"/>
          <p:cNvSpPr txBox="1"/>
          <p:nvPr/>
        </p:nvSpPr>
        <p:spPr>
          <a:xfrm>
            <a:off x="429100" y="2316575"/>
            <a:ext cx="3009600" cy="39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CL"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Problema actual:</a:t>
            </a:r>
            <a:endParaRPr sz="2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-"/>
            </a:pPr>
            <a:r>
              <a:rPr lang="es-CL"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Gimnasio no tiene forma de asegurarse de la salud de los clientes.</a:t>
            </a:r>
            <a:endParaRPr sz="1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-"/>
            </a:pPr>
            <a:r>
              <a:rPr lang="es-CL"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Gimnasios normalmente dejan responsabilidad en el socio sobre su salud.</a:t>
            </a:r>
            <a:endParaRPr sz="1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-"/>
            </a:pPr>
            <a:r>
              <a:rPr lang="es-CL"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Clientes no pueden asegurarse de su aptitud para entrenar en ese momento.</a:t>
            </a:r>
            <a:endParaRPr sz="1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2" name="Google Shape;402;hfdfb8fb64a5011c_1_1043"/>
          <p:cNvSpPr txBox="1"/>
          <p:nvPr/>
        </p:nvSpPr>
        <p:spPr>
          <a:xfrm>
            <a:off x="3669225" y="2316575"/>
            <a:ext cx="36234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CL"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Soluciones existentes:</a:t>
            </a:r>
            <a:endParaRPr sz="2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403" name="Google Shape;403;hfdfb8fb64a5011c_1_1043"/>
          <p:cNvGraphicFramePr/>
          <p:nvPr/>
        </p:nvGraphicFramePr>
        <p:xfrm>
          <a:off x="3669225" y="2865675"/>
          <a:ext cx="4853550" cy="3003375"/>
        </p:xfrm>
        <a:graphic>
          <a:graphicData uri="http://schemas.openxmlformats.org/drawingml/2006/table">
            <a:tbl>
              <a:tblPr>
                <a:noFill/>
                <a:tableStyleId>{DC80C63A-C8C8-4543-9341-8D23CDD0A918}</a:tableStyleId>
              </a:tblPr>
              <a:tblGrid>
                <a:gridCol w="11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3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b="1" u="none" strike="noStrike" cap="none"/>
                        <a:t>Solución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EA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b="1" u="none" strike="noStrike" cap="none"/>
                        <a:t>Mediciones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EA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b="1" u="none" strike="noStrike" cap="none"/>
                        <a:t>Aptitud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EA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b="1" u="none" strike="noStrike" cap="none"/>
                        <a:t>Supervisión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EA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Technogym/ SmartFit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Rendimiento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No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No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SiSU / higi (farmacias)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Vitales + IMC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No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No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PAR-Q+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No (Subjetivo)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Cuestionario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No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Nuestro tótem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Vitales + Bio + Step Test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Categoría A1-A4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Profesional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4" name="Google Shape;404;hfdfb8fb64a5011c_1_1043"/>
          <p:cNvSpPr txBox="1"/>
          <p:nvPr/>
        </p:nvSpPr>
        <p:spPr>
          <a:xfrm>
            <a:off x="8568600" y="2316575"/>
            <a:ext cx="36234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CL"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Pilares de innovación:</a:t>
            </a:r>
            <a:endParaRPr sz="2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5" name="Google Shape;405;hfdfb8fb64a5011c_1_1043"/>
          <p:cNvSpPr txBox="1"/>
          <p:nvPr/>
        </p:nvSpPr>
        <p:spPr>
          <a:xfrm>
            <a:off x="8823200" y="2823874"/>
            <a:ext cx="3009600" cy="36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AutoNum type="arabicPeriod"/>
            </a:pPr>
            <a:r>
              <a:rPr lang="es-CL"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Flujo Único: Cuestionario + Vitales + Bioimpedancia + Step Test.</a:t>
            </a:r>
            <a:endParaRPr sz="1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AutoNum type="arabicPeriod"/>
            </a:pPr>
            <a:r>
              <a:rPr lang="es-CL"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Estándar ACSM: Clasificación clara de riesgo (A1 a A4).</a:t>
            </a:r>
            <a:endParaRPr sz="1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AutoNum type="arabicPeriod"/>
            </a:pPr>
            <a:r>
              <a:rPr lang="es-CL"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Clasificación Inteligente: La IA evalúa sólo deriva a revisión los casos de riesgo o de baja confianza.</a:t>
            </a:r>
            <a:endParaRPr sz="1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AutoNum type="arabicPeriod"/>
            </a:pPr>
            <a:r>
              <a:rPr lang="es-CL"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Validación Humana: Decisión final tomada por un profesional de la salud.</a:t>
            </a:r>
            <a:endParaRPr sz="1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fa4cc17cc6_1_693"/>
          <p:cNvSpPr txBox="1">
            <a:spLocks noGrp="1"/>
          </p:cNvSpPr>
          <p:nvPr>
            <p:ph type="ctrTitle"/>
          </p:nvPr>
        </p:nvSpPr>
        <p:spPr>
          <a:xfrm>
            <a:off x="4059600" y="2935499"/>
            <a:ext cx="4072800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CL"/>
              <a:t>Conclusión</a:t>
            </a:r>
            <a:endParaRPr/>
          </a:p>
        </p:txBody>
      </p:sp>
      <p:sp>
        <p:nvSpPr>
          <p:cNvPr id="411" name="Google Shape;411;g3fa4cc17cc6_1_693"/>
          <p:cNvSpPr txBox="1"/>
          <p:nvPr/>
        </p:nvSpPr>
        <p:spPr>
          <a:xfrm>
            <a:off x="4596000" y="10093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908</Words>
  <Application>Microsoft Office PowerPoint</Application>
  <PresentationFormat>Panorámica</PresentationFormat>
  <Paragraphs>182</Paragraphs>
  <Slides>32</Slides>
  <Notes>32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32</vt:i4>
      </vt:variant>
    </vt:vector>
  </HeadingPairs>
  <TitlesOfParts>
    <vt:vector size="40" baseType="lpstr">
      <vt:lpstr>Century Gothic</vt:lpstr>
      <vt:lpstr>Calibri</vt:lpstr>
      <vt:lpstr>Economica</vt:lpstr>
      <vt:lpstr>Arial</vt:lpstr>
      <vt:lpstr>Open Sans</vt:lpstr>
      <vt:lpstr>Luxe</vt:lpstr>
      <vt:lpstr>Luxe</vt:lpstr>
      <vt:lpstr>Luxe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Product vision</vt:lpstr>
      <vt:lpstr>Product vision</vt:lpstr>
      <vt:lpstr>Product vision</vt:lpstr>
      <vt:lpstr>Product backlog</vt:lpstr>
      <vt:lpstr>Sprint Backlog</vt:lpstr>
      <vt:lpstr>Definition of Done</vt:lpstr>
      <vt:lpstr>Retrospectivas</vt:lpstr>
      <vt:lpstr>Diagrama de casos de uso</vt:lpstr>
      <vt:lpstr>Diagrama de clases</vt:lpstr>
      <vt:lpstr>Diagrama de clases</vt:lpstr>
      <vt:lpstr>Diagrama de secuencia</vt:lpstr>
      <vt:lpstr>Presentación de PowerPoint</vt:lpstr>
      <vt:lpstr>Presentación de PowerPoint</vt:lpstr>
      <vt:lpstr>Diagrama de comunicación</vt:lpstr>
      <vt:lpstr>Diagrama de comunicación</vt:lpstr>
      <vt:lpstr>Diagrama de actividad</vt:lpstr>
      <vt:lpstr>Diagrama de paquetes</vt:lpstr>
      <vt:lpstr>Presentación de PowerPoint</vt:lpstr>
      <vt:lpstr>Diagrama de componentes</vt:lpstr>
      <vt:lpstr>Diagrama de despliegue</vt:lpstr>
      <vt:lpstr>Diagrama BPMN To-Be</vt:lpstr>
      <vt:lpstr>Diagrama BPMN To-Be</vt:lpstr>
      <vt:lpstr>Diagrama BPMN To-Be</vt:lpstr>
      <vt:lpstr>Diagrama entidad-relación</vt:lpstr>
      <vt:lpstr>Diagrama entidad-relación</vt:lpstr>
      <vt:lpstr>Justificación de innovación</vt:lpstr>
      <vt:lpstr>Conclusión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Gerardo Galan Cruz</dc:creator>
  <cp:lastModifiedBy>CRISTOBAL ANDRE HERNANDEZ ORELLANA</cp:lastModifiedBy>
  <cp:revision>1</cp:revision>
  <dcterms:created xsi:type="dcterms:W3CDTF">2023-10-28T21:12:11Z</dcterms:created>
  <dcterms:modified xsi:type="dcterms:W3CDTF">2026-10-20T01:52:06Z</dcterms:modified>
</cp:coreProperties>
</file>